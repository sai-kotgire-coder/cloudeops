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India DC Capacity Growth (GW)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 DC Capacity (GW)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2020</c:v>
                  </c:pt>
                  <c:pt idx="1">
                    <c:v>2023</c:v>
                  </c:pt>
                  <c:pt idx="2">
                    <c:v>2025</c:v>
                  </c:pt>
                  <c:pt idx="3">
                    <c:v>2027E</c:v>
                  </c:pt>
                  <c:pt idx="4">
                    <c:v>2030E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0.8</c:v>
                </c:pt>
                <c:pt idx="2">
                  <c:v>1.6</c:v>
                </c:pt>
                <c:pt idx="3">
                  <c:v>3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Annual OPEX Breakdown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OPEX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</c:dPt>
          <c:dPt>
            <c:idx val="1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bubble3D val="0"/>
            <c:spPr>
              <a:solidFill>
                <a:srgbClr val="EA580C"/>
              </a:solidFill>
              <a:effectLst/>
            </c:spPr>
          </c:dPt>
          <c:dPt>
            <c:idx val="3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Power (55%)</c:v>
                </c:pt>
                <c:pt idx="1">
                  <c:v>Staff (20%)</c:v>
                </c:pt>
                <c:pt idx="2">
                  <c:v>Maintenance (10%)</c:v>
                </c:pt>
                <c:pt idx="3">
                  <c:v>Connectivity (8%)</c:v>
                </c:pt>
                <c:pt idx="4">
                  <c:v>Other (7%)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55</c:v>
                </c:pt>
                <c:pt idx="1">
                  <c:v>20</c:v>
                </c:pt>
                <c:pt idx="2">
                  <c:v>10</c:v>
                </c:pt>
                <c:pt idx="3">
                  <c:v>8</c:v>
                </c:pt>
                <c:pt idx="4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487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 ENTRY STRATEGY  —  2025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944368"/>
            <a:ext cx="7772400" cy="0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127248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272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→ Scale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3127248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31272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Segregation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3127248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31272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Roadmap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78040" y="3127248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1272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Financial Model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6634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SENIOR LEADERSHIP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Covering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focused sections — each self-explanatory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420624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6012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1014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Center?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model, revenue streams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1929384"/>
            <a:ext cx="420624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929384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" y="1929384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1984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Market Opportunity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why open market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2898648"/>
            <a:ext cx="420624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98648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" y="2898648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2953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Start (Room → DC)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 room, 1 server, 1 client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3867912"/>
            <a:ext cx="4206240" cy="804672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867912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386791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Store &amp; Segregate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4288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isolation, client security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18304" y="960120"/>
            <a:ext cx="4206240" cy="8046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18304" y="960120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8" name="Text 26"/>
          <p:cNvSpPr/>
          <p:nvPr/>
        </p:nvSpPr>
        <p:spPr>
          <a:xfrm>
            <a:off x="4718304" y="96012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75504" y="10149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Requirements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75504" y="1380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power, cooling at each phase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1929384"/>
            <a:ext cx="4206240" cy="8046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18304" y="1929384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1929384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75504" y="19842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75504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production-ready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18304" y="2898648"/>
            <a:ext cx="4206240" cy="8046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18304" y="2898648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8" name="Text 36"/>
          <p:cNvSpPr/>
          <p:nvPr/>
        </p:nvSpPr>
        <p:spPr>
          <a:xfrm>
            <a:off x="4718304" y="2898648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75504" y="2953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Compliance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75504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CAPEX, OPEX, certifications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18304" y="3867912"/>
            <a:ext cx="4206240" cy="8046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18304" y="3867912"/>
            <a:ext cx="384048" cy="80467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3" name="Text 41"/>
          <p:cNvSpPr/>
          <p:nvPr/>
        </p:nvSpPr>
        <p:spPr>
          <a:xfrm>
            <a:off x="4718304" y="3867912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75504" y="39227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Roadmap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75504" y="4288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→ Tier I → Hyperscale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Center?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building that earns money 24/7 by housing other people's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4114800" cy="1371600"/>
          </a:xfrm>
          <a:prstGeom prst="rect">
            <a:avLst/>
          </a:prstGeom>
          <a:solidFill>
            <a:srgbClr val="0F20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02412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center is a physical facility that stores, processes, and connects IT systems — servers, storage, networking — for companies that can't or won't build their own.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423160"/>
            <a:ext cx="2011680" cy="24231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2532888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8952" y="2514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2880360"/>
            <a:ext cx="179222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rack space + power to enterprise clients. They own servers, you own the building.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32304" y="2423160"/>
            <a:ext cx="2011680" cy="24231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253288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35224" y="2514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(IaaS)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542032" y="2880360"/>
            <a:ext cx="179222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virtual servers, storage, networking as-a-service. Rs. 3–20/hr per VM.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08576" y="2423160"/>
            <a:ext cx="2011680" cy="24231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736" y="253288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11496" y="2514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Services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718304" y="2880360"/>
            <a:ext cx="179222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client IT — patching, backups, monitoring. 30–50% margin add-on.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784848" y="2423160"/>
            <a:ext cx="2011680" cy="242316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253288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7768" y="2514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/ Backup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894576" y="2880360"/>
            <a:ext cx="179222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site for banks, healthcare, govt. Long contracts, steady revenue.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462272" y="960120"/>
            <a:ext cx="4462272" cy="137160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462272" y="1005840"/>
            <a:ext cx="4462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18,000+ Cr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4462272" y="1572768"/>
            <a:ext cx="4462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Center Market Size — 2025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40–50% CAGR | Govt-backed | AI-driven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India? Why Now?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demand, regulation, and massive supply gap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256032" y="914400"/>
          <a:ext cx="41148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914400"/>
            <a:ext cx="42976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617720" y="914400"/>
            <a:ext cx="91440" cy="67665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6"/>
          <p:cNvSpPr/>
          <p:nvPr/>
        </p:nvSpPr>
        <p:spPr>
          <a:xfrm>
            <a:off x="4800600" y="932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188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personal data stored in India. Every MNC = new DC demand.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7720" y="1664208"/>
            <a:ext cx="42976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664208"/>
            <a:ext cx="91440" cy="67665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1682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GPU Boom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00600" y="19385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AI Mission: 10,000+ GPUs. Private sector adding 100K+/year.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17720" y="2414016"/>
            <a:ext cx="42976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17720" y="2414016"/>
            <a:ext cx="91440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2432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Rollout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00600" y="26883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Jio/Airtel 5G needs edge DCs in 500+ cities for low latency.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17720" y="3163824"/>
            <a:ext cx="42976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17720" y="3163824"/>
            <a:ext cx="91440" cy="67665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1" name="Text 18"/>
          <p:cNvSpPr/>
          <p:nvPr/>
        </p:nvSpPr>
        <p:spPr>
          <a:xfrm>
            <a:off x="4800600" y="3182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&amp; Health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00600" y="34381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mandates financial data in India. NHA Digital Health push.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617720" y="3913632"/>
            <a:ext cx="42976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17720" y="3913632"/>
            <a:ext cx="91440" cy="676656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3931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Holiday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00600" y="4187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exemption till 2047 for foreign cloud using Indian DCs.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56032" y="4160520"/>
            <a:ext cx="4114800" cy="713232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47472" y="41879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 underpenetrated vs. Singapore  |  &lt; 8% Tier-2 cities have a carrier-neutral DC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Actually Start — Bootstrap Phase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room · 1 server · 1 client — before any land or big CAPEX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8595360" cy="530352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Reality Check: We don't start with 0.5 acres. We start with ONE room in our existing building, prove the model, earn first revenue, then expand.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1600200"/>
            <a:ext cx="202996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600200"/>
            <a:ext cx="2029968" cy="62179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60020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22860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Room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" y="269748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 rack (4U), 1 NAS storage unit, 1 UPS, 1 switch, consumer-grade internet (100 Mbps). Host 1 client's data/website. Cost: ₹ 2–5 Lakh.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0" y="3218688"/>
            <a:ext cx="1828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600200"/>
            <a:ext cx="202996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600200"/>
            <a:ext cx="2029968" cy="6217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160020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22860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Server Room (5–10 Racks)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269748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room (300–600 sq ft). Precision AC + 1 DG set (backup). 1 Gbps internet. 5–10 clients. Cost: ₹ 15–40 Lakh.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98848" y="3218688"/>
            <a:ext cx="1828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1600200"/>
            <a:ext cx="202996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1600200"/>
            <a:ext cx="2029968" cy="6217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681728" y="160020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6–18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22860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Colo (25–50 Racks)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73168" y="269748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floor or wing. 2× utility power feeds. Redundant internet. NOC set up. First enterprise clients. Cost: ₹ 80 L–2 Cr.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11696" y="3218688"/>
            <a:ext cx="18288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4576" y="1600200"/>
            <a:ext cx="2029968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94576" y="1600200"/>
            <a:ext cx="2029968" cy="62179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28" name="Text 26"/>
          <p:cNvSpPr/>
          <p:nvPr/>
        </p:nvSpPr>
        <p:spPr>
          <a:xfrm>
            <a:off x="6894576" y="160020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18+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86016" y="2286000"/>
            <a:ext cx="184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DC (100–200 Racks)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986016" y="2697480"/>
            <a:ext cx="1847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or leased space. Tier III grade. ISO 27001. MeitY empanelment. ₹ 5–15 Cr CAPEX.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Store &amp; Segregate Client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is isolated — technically and legally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ARCHITECTURE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261872"/>
            <a:ext cx="4114800" cy="438912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(HTTPS)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67712" y="1700784"/>
            <a:ext cx="0" cy="9144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1773936"/>
            <a:ext cx="4114800" cy="4389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77393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+ IAM (Keycloak / JWT Auth)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67712" y="2212848"/>
            <a:ext cx="0" cy="9144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2286000"/>
            <a:ext cx="4114800" cy="4389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22860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NAMESPACE (Kubernetes / OpenStack)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67712" y="2724912"/>
            <a:ext cx="0" cy="9144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798064"/>
            <a:ext cx="4114800" cy="4389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79806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/ VRF NETWORK ISOLATION (per client)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67712" y="3236976"/>
            <a:ext cx="0" cy="9144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3310128"/>
            <a:ext cx="4114800" cy="4389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33101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 CLUSTER (S3 Object + Block RBD)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67712" y="3749040"/>
            <a:ext cx="0" cy="91440"/>
          </a:xfrm>
          <a:prstGeom prst="line">
            <a:avLst/>
          </a:prstGeom>
          <a:noFill/>
          <a:ln w="25400">
            <a:solidFill>
              <a:srgbClr val="0F20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822192"/>
            <a:ext cx="4114800" cy="43891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382219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HDD/SSD HARDWARE (encrypted at rest)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ISOLATION METHODS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261872"/>
            <a:ext cx="4251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298448"/>
            <a:ext cx="256032" cy="25603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4748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VLAN + VRF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736592" y="15544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gets a dedicated VLAN and VRF (Virtual Routing &amp; Forwarding). Traffic is hardware-isolated. Client A cannot see Client B's packets — ever.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663440" y="2011680"/>
            <a:ext cx="4251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048256"/>
            <a:ext cx="256032" cy="2560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047488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Ceph Pools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736592" y="230428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Ceph storage pools per client tenant. S3 bucket policies enforce access. All data encrypted at-rest (AES-256).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63440" y="2761488"/>
            <a:ext cx="4251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798064"/>
            <a:ext cx="256032" cy="25603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047488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IAM Tokens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736592" y="305409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issues short-lived JWT tokens per client. Every API call authenticated. No shared credentials.</a:t>
            </a:r>
            <a:endParaRPr lang="en-US" sz="850" dirty="0"/>
          </a:p>
        </p:txBody>
      </p:sp>
      <p:sp>
        <p:nvSpPr>
          <p:cNvPr id="37" name="Shape 32"/>
          <p:cNvSpPr/>
          <p:nvPr/>
        </p:nvSpPr>
        <p:spPr>
          <a:xfrm>
            <a:off x="4663440" y="3511296"/>
            <a:ext cx="4251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547872"/>
            <a:ext cx="256032" cy="25603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047488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Isolated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4736592" y="3803904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Prometheus namespace. Clients see only their own metrics. Zero cross-tenant observability leak.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4663440" y="4261104"/>
            <a:ext cx="425196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297680"/>
            <a:ext cx="256032" cy="25603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047488" y="42793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MSA + DPA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736592" y="45537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 signs a Master Service Agreement + Data Processing Agreement defining ownership, residency, and deletion obligations.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Flow &amp; Isolation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moves from client to storage — and stays isolated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945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(Startup)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1945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05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(Enterprise)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1945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005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(Govt)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36192" y="1645920"/>
            <a:ext cx="0" cy="3200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645920"/>
            <a:ext cx="0" cy="3200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05472" y="1645920"/>
            <a:ext cx="0" cy="3200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1965960"/>
            <a:ext cx="859536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19659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HTTPS / TLS 1.3 Encryption  +  JWT Authentication (Keycloak IAM)  +  API Rate Limiting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36192" y="2514600"/>
            <a:ext cx="0" cy="3200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2514600"/>
            <a:ext cx="0" cy="3200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05472" y="2514600"/>
            <a:ext cx="0" cy="32004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34640"/>
            <a:ext cx="2194560" cy="566928"/>
          </a:xfrm>
          <a:prstGeom prst="rect">
            <a:avLst/>
          </a:prstGeom>
          <a:solidFill>
            <a:srgbClr val="1D4ED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34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10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VRF-ClientA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2834640"/>
            <a:ext cx="2194560" cy="566928"/>
          </a:xfrm>
          <a:prstGeom prst="rect">
            <a:avLst/>
          </a:prstGeom>
          <a:solidFill>
            <a:srgbClr val="0891B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34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20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VRF-ClientB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834640"/>
            <a:ext cx="2194560" cy="566928"/>
          </a:xfrm>
          <a:prstGeom prst="rect">
            <a:avLst/>
          </a:prstGeom>
          <a:solidFill>
            <a:srgbClr val="7C3AE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8346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30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VRF-ClientC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36192" y="3401568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70832" y="3401568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3401568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675888"/>
            <a:ext cx="2194560" cy="594360"/>
          </a:xfrm>
          <a:prstGeom prst="rect">
            <a:avLst/>
          </a:prstGeom>
          <a:solidFill>
            <a:srgbClr val="0F2044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6758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Pool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(Encrypted AES-256)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3675888"/>
            <a:ext cx="2194560" cy="594360"/>
          </a:xfrm>
          <a:prstGeom prst="rect">
            <a:avLst/>
          </a:prstGeom>
          <a:solidFill>
            <a:srgbClr val="0F2044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36758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Pool 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(Encrypted AES-256)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675888"/>
            <a:ext cx="2194560" cy="594360"/>
          </a:xfrm>
          <a:prstGeom prst="rect">
            <a:avLst/>
          </a:prstGeom>
          <a:solidFill>
            <a:srgbClr val="0F2044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675888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Pool 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(Encrypted AES-256)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56032" y="4407408"/>
            <a:ext cx="85953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44074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ZERO CROSS-TENANT ACCESS  |  Data never leaves assigned pool  |  Audit log per operation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at Each Phase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specs — no over-engineering, no under-building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914400"/>
          <a:ext cx="8595360" cy="3931920"/>
        </p:xfrm>
        <a:graphic>
          <a:graphicData uri="http://schemas.openxmlformats.org/drawingml/2006/table">
            <a:tbl>
              <a:tblPr/>
              <a:tblGrid>
                <a:gridCol w="1371600"/>
                <a:gridCol w="2194560"/>
                <a:gridCol w="237744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 0 — 1 Room (Bootstrap)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 1 — Mini DC (25-50 Racks)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 2 — Tier III DC (200 Racks)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Space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 room, 200–400 sq ft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500–2,000 sq ft dedicated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30,000–100,000 sq ft purpose-built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Racks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1–3 standard racks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25–50 racks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200–300 racks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Power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30A single-phase + 1 UPS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2× feeds + 1 DG set (100 kVA)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Dual 11kV utility + 2N DG (2–5 MW)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Cooling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 precision AC unit (1.5T)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 CRACs + basic containment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Chilled water plant + liquid cooling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Internet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100 Mbps ILL (1 ISP)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 Gbps dual ISP + BGP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10G dual ISP + carrier-neutral IX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Storage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2–4 TB NAS (Synology/QNAP)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Ceph cluster 3 nodes, 50–100 TB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Ceph PB-scale, all-flash NVMe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Monitoring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Netdata on 1 server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Prometheus + Grafana basic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Full DCIM + Grafana + Loki stack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Team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1–2 people (founder-run)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3–5 (NOC + 1 engineer)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15–25 (24/7 NOC, sales, engineers)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044"/>
                          </a:solidFill>
                        </a:rPr>
                        <a:t>CAPEX Est.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₹ 2–5 Lakh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₹ 80 L–2 Cr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₹ 30–80 Cr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828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Tech Stack — Open Source Core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6217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VMware. No NetApp. No expensive licensing. Full control.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1783080"/>
          </a:xfrm>
          <a:prstGeom prst="rect">
            <a:avLst/>
          </a:prstGeom>
          <a:solidFill>
            <a:srgbClr val="0D1B2E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34640" cy="365760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" y="9601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38074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+ Proxmox 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OpenStack Nova for IaaS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(RKE2) for containers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834640" cy="1783080"/>
          </a:xfrm>
          <a:prstGeom prst="rect">
            <a:avLst/>
          </a:prstGeom>
          <a:solidFill>
            <a:srgbClr val="0D1B2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960120"/>
            <a:ext cx="2834640" cy="3657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005840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02736" y="9601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291840" y="138074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RADOS (Object + Block + File)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S3-compatible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All-flash NVMe for AI workloads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72200" y="960120"/>
            <a:ext cx="2834640" cy="1783080"/>
          </a:xfrm>
          <a:prstGeom prst="rect">
            <a:avLst/>
          </a:prstGeom>
          <a:solidFill>
            <a:srgbClr val="0D1B2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72200" y="960120"/>
            <a:ext cx="2834640" cy="3657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74536" y="96012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63640" y="138074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VyOS Router (BGP/OSPF)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VXLAN + BGP-EVPN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OpenVSwitch (VM overlay)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MetalLB for bare-metal LB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28600" y="2880360"/>
            <a:ext cx="2834640" cy="1783080"/>
          </a:xfrm>
          <a:prstGeom prst="rect">
            <a:avLst/>
          </a:prstGeom>
          <a:solidFill>
            <a:srgbClr val="0D1B2E"/>
          </a:solidFill>
          <a:ln w="1905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28600" y="2880360"/>
            <a:ext cx="2834640" cy="365760"/>
          </a:xfrm>
          <a:prstGeom prst="rect">
            <a:avLst/>
          </a:prstGeom>
          <a:solidFill>
            <a:srgbClr val="0F20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92608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" y="28803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20040" y="330098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(log aggregation)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+ PagerDuty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Netdata (real-time)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200400" y="2880360"/>
            <a:ext cx="2834640" cy="1783080"/>
          </a:xfrm>
          <a:prstGeom prst="rect">
            <a:avLst/>
          </a:prstGeom>
          <a:solidFill>
            <a:srgbClr val="0D1B2E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2880360"/>
            <a:ext cx="2834640" cy="365760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2926080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02736" y="28803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291840" y="330098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IAM (SSO/JWT)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Vault (secrets)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VLAN/VRF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ClamAV + Wazuh SIEM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72200" y="2880360"/>
            <a:ext cx="2834640" cy="1783080"/>
          </a:xfrm>
          <a:prstGeom prst="rect">
            <a:avLst/>
          </a:prstGeom>
          <a:solidFill>
            <a:srgbClr val="0D1B2E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72200" y="2880360"/>
            <a:ext cx="2834640" cy="36576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26080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74536" y="2880360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63640" y="3300984"/>
            <a:ext cx="2651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OpenMeter (metering engine)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Stripe gateway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WHMCS for invoicing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for analytics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— CAPEX, OPEX &amp; Revenue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numbers, no sugar coating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87552"/>
            <a:ext cx="2651760" cy="1005840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078992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2–5 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6032" y="1570939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CAPEX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Room, Phase 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90672" y="987552"/>
            <a:ext cx="2651760" cy="100584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90672" y="1078992"/>
            <a:ext cx="265176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2–5 Cr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090672" y="1570939"/>
            <a:ext cx="26517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DC CAPEX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1, 25–50 racks)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25312" y="987552"/>
            <a:ext cx="2926080" cy="1005840"/>
          </a:xfrm>
          <a:prstGeom prst="rect">
            <a:avLst/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25312" y="1078992"/>
            <a:ext cx="29260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30–80 Cr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25312" y="1570939"/>
            <a:ext cx="29260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III CAPEX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(Phase 2, 200+ racks)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" y="21214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BENCHMARKS (COLOCATION)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468880"/>
            <a:ext cx="502920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(3 racks, 80% fill)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73552" y="2487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40,000–80,000 / month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2889504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9077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(25 racks, 70% fill)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73552" y="29077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3.5–6 Lakh / month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310128"/>
            <a:ext cx="502920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3284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(100 racks, 75% fill)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73552" y="33284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15–25 Lakh / month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6032" y="3730752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7490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Occupancy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73552" y="3749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60–70% rack fill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" y="4151376"/>
            <a:ext cx="502920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1696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EBITDA Margin (mature)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73552" y="4169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" y="4572000"/>
            <a:ext cx="50292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5902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 (Phase 1)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73552" y="4590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</a:t>
            </a:r>
            <a:endParaRPr lang="en-US" sz="95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5349240" y="2084832"/>
          <a:ext cx="35661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Certifications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 = Revenue unlock. Not optional for enterprise/govt contracts.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14400"/>
            <a:ext cx="2743200" cy="36576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— Day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" y="132588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325880"/>
            <a:ext cx="2743200" cy="36576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27001:2022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baseline. Required for ALL enterprise deals.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51460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514600"/>
            <a:ext cx="2743200" cy="36576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560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data protection law. Mandatory if handling personal data.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" y="370332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3703320"/>
            <a:ext cx="2743200" cy="36576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Empanelment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ANY central/state govt contract.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 — Scale Enablers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132588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325880"/>
            <a:ext cx="27432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Tier III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infra rating. Required for hyperscaler colo.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251460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514600"/>
            <a:ext cx="27432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2560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US-connected enterprise and SaaS clients.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0" y="370332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703320"/>
            <a:ext cx="274320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v4.0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hosting payment/banking infrastructure.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4768" y="914400"/>
            <a:ext cx="27432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6144768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 — Market Leaders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44768" y="132588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132588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22301 (BCMS)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36208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continuity. Required by BFSI and healthcare.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44768" y="251460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44768" y="251460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6236208" y="2560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IGBC Platinum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29260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building. Required for ESG reporting, green financing.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44768" y="3703320"/>
            <a:ext cx="27432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44768" y="370332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6236208" y="3749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Cloud Guidelines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36208" y="41148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for hosting core banking systems.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56032" y="4681728"/>
            <a:ext cx="859536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6908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₹ 1–2 Cr over 24 months for full certification program  |  This is a revenue-unlocking investment — not a cost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5603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Precautions &amp; Risks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75895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kills DC startups — and how to avoid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96012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42062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3639312" y="1051560"/>
            <a:ext cx="7315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Power: Never single feed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4173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Dual utility from SEPARATE substations. DG test under load every 90 days. 48hr fuel on-site.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2062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051560"/>
            <a:ext cx="7315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73168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Water: Community backlash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73168" y="14173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Closed-loop cooling only. No borewells. Publish WUE data. Engage municipality before construction.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2860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286000"/>
            <a:ext cx="42062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Shape 18"/>
          <p:cNvSpPr/>
          <p:nvPr/>
        </p:nvSpPr>
        <p:spPr>
          <a:xfrm>
            <a:off x="3639312" y="2377440"/>
            <a:ext cx="73152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639312" y="2377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📭  Slow rack fill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274320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Pre-sell BEFORE building. Get 1 anchor tenant (50+ racks) committed before full fit-out.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2860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286000"/>
            <a:ext cx="420624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0" y="2377440"/>
            <a:ext cx="731520" cy="256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0" y="23774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73168" y="2377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Cybersecurity breach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274320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Zero-trust from Day 1. Immutable backups. Quarterly pen test. Incident response retainer.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361188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611880"/>
            <a:ext cx="420624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2" name="Shape 30"/>
          <p:cNvSpPr/>
          <p:nvPr/>
        </p:nvSpPr>
        <p:spPr>
          <a:xfrm>
            <a:off x="3639312" y="3703320"/>
            <a:ext cx="731520" cy="256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3639312" y="3703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Staff attrition (NOC/Electrical)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0690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ESOPs + career path. Cross-train 2 people per critical role. Never single point of knowledge.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61188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611880"/>
            <a:ext cx="4206240" cy="457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Shape 36"/>
          <p:cNvSpPr/>
          <p:nvPr/>
        </p:nvSpPr>
        <p:spPr>
          <a:xfrm>
            <a:off x="8046720" y="3703320"/>
            <a:ext cx="731520" cy="256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9" name="Text 37"/>
          <p:cNvSpPr/>
          <p:nvPr/>
        </p:nvSpPr>
        <p:spPr>
          <a:xfrm>
            <a:off x="8046720" y="37033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3168" y="37033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Certification delays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73168" y="406908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Start ISO 27001 on Day 1 — not after launch. Run compliance prep in parallel with construction.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16459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 — Bootstrap to Scale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6032" y="5943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approach — prove before you invest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59536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170432" y="987552"/>
            <a:ext cx="164592" cy="164592"/>
          </a:xfrm>
          <a:prstGeom prst="oval">
            <a:avLst/>
          </a:prstGeom>
          <a:solidFill>
            <a:srgbClr val="EA580C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554480"/>
            <a:ext cx="2011680" cy="3291840"/>
          </a:xfrm>
          <a:prstGeom prst="rect">
            <a:avLst/>
          </a:prstGeom>
          <a:solidFill>
            <a:srgbClr val="0D1B2E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554480"/>
            <a:ext cx="2011680" cy="5943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" y="1554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0–3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7472" y="22128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Room, 1 Rack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4023360"/>
            <a:ext cx="18288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₹ 2–5 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64992" y="987552"/>
            <a:ext cx="164592" cy="164592"/>
          </a:xfrm>
          <a:prstGeom prst="oval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1554480"/>
            <a:ext cx="2011680" cy="3291840"/>
          </a:xfrm>
          <a:prstGeom prst="rect">
            <a:avLst/>
          </a:prstGeom>
          <a:solidFill>
            <a:srgbClr val="0D1B2E"/>
          </a:solidFill>
          <a:ln w="1905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554480"/>
            <a:ext cx="2011680" cy="5943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1554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42032" y="22128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DC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25–50 Racks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Clients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42032" y="4023360"/>
            <a:ext cx="182880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2542032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₹ 80L–2Cr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59552" y="987552"/>
            <a:ext cx="164592" cy="164592"/>
          </a:xfrm>
          <a:prstGeom prst="oval">
            <a:avLst/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45152" y="1554480"/>
            <a:ext cx="2011680" cy="3291840"/>
          </a:xfrm>
          <a:prstGeom prst="rect">
            <a:avLst/>
          </a:prstGeom>
          <a:solidFill>
            <a:srgbClr val="0D1B2E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554480"/>
            <a:ext cx="201168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4645152" y="1554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12–30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36592" y="22128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III DC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Racks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36592" y="4023360"/>
            <a:ext cx="182880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₹ 15–80Cr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54112" y="987552"/>
            <a:ext cx="164592" cy="164592"/>
          </a:xfrm>
          <a:prstGeom prst="oval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839712" y="1554480"/>
            <a:ext cx="2011680" cy="3291840"/>
          </a:xfrm>
          <a:prstGeom prst="rect">
            <a:avLst/>
          </a:prstGeom>
          <a:solidFill>
            <a:srgbClr val="0D1B2E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39712" y="1554480"/>
            <a:ext cx="201168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839712" y="1554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3–5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31152" y="2212848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Racks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+ AI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31152" y="4023360"/>
            <a:ext cx="182880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6931152" y="4023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CAPEX: ₹ 50Cr+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04288" y="969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Prove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98848" y="969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Grow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93408" y="9692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Scale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to decide and do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" y="1645920"/>
            <a:ext cx="2743200" cy="3200400"/>
          </a:xfrm>
          <a:prstGeom prst="rect">
            <a:avLst/>
          </a:prstGeom>
          <a:solidFill>
            <a:srgbClr val="0D1B2E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645920"/>
            <a:ext cx="274320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21284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₹ 2–5 Lakh for Phase 0 setup. Identify the room. Buy 1 server rack, 1 UPS, 1 NAS. Onboard 1 paying client within 60 days.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45920"/>
            <a:ext cx="2743200" cy="3200400"/>
          </a:xfrm>
          <a:prstGeom prst="rect">
            <a:avLst/>
          </a:prstGeom>
          <a:solidFill>
            <a:srgbClr val="0D1B2E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645920"/>
            <a:ext cx="274320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PHASE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21284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target for 25-rack mini DC. Identify building floor/wing. Engage architect + DISCOM for power connection. Set 9-month target.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44768" y="1645920"/>
            <a:ext cx="2743200" cy="3200400"/>
          </a:xfrm>
          <a:prstGeom prst="rect">
            <a:avLst/>
          </a:prstGeom>
          <a:solidFill>
            <a:srgbClr val="0D1B2E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645920"/>
            <a:ext cx="274320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144768" y="1645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212848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ISO 27001 pre-assessment. Identify 3 anchor colo clients (enterprise/startup). Begin MeitY empanelment process.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DC market adds capacity at 40-50% CAGR. Every month of delay = market share given to competitors.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Center Business — India Entry Strategy</dc:title>
  <dc:subject>PptxGenJS Presentation</dc:subject>
  <dc:creator>PptxGenJS</dc:creator>
  <cp:lastModifiedBy>PptxGenJS</cp:lastModifiedBy>
  <cp:revision>1</cp:revision>
  <dcterms:created xsi:type="dcterms:W3CDTF">2026-04-03T11:05:52Z</dcterms:created>
  <dcterms:modified xsi:type="dcterms:W3CDTF">2026-04-03T11:05:52Z</dcterms:modified>
</cp:coreProperties>
</file>